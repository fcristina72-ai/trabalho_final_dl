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828800"/>
            <a:ext cx="5669280" cy="5669280"/>
          </a:xfrm>
          <a:prstGeom prst="ellipse">
            <a:avLst/>
          </a:prstGeom>
          <a:solidFill>
            <a:srgbClr val="0E7C86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474720"/>
            <a:ext cx="4206240" cy="4206240"/>
          </a:xfrm>
          <a:prstGeom prst="ellipse">
            <a:avLst/>
          </a:prstGeom>
          <a:solidFill>
            <a:srgbClr val="E8A23D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D3D8"/>
                </a:solidFill>
              </a:rPr>
              <a:t>MESTRADO MCDIA · IDP · DEEP LEARNING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Learning vs. Machine Learning Clássico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Predição de Evasão Estudantil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Modalidade 1 — Trabalho Individual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FE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a Deep Learning superar o ML clássico publicado por Villar &amp; de Andrade (2024)?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Aluno(a): [seu nome]      </a:t>
            </a:r>
            <a:pPr indent="0" marL="0">
              <a:buNone/>
            </a:pPr>
            <a:r>
              <a:rPr lang="en-US" sz="1300" dirty="0">
                <a:solidFill>
                  <a:srgbClr val="9FB6BE"/>
                </a:solidFill>
              </a:rPr>
              <a:t>Dataset: UCI #697 — Realinho et al. (2022), 4.424 alunos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&amp;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Evasão: o problema que queremos antecipar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evasão no ensino superior gera custo social, econômico e institucional. 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alunos em risco cedo permite intervenções de apoio direcionadas.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880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classes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B"/>
                </a:solidFill>
              </a:rPr>
              <a:t>Dropout · Enrolled · Graduate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97480" y="274320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2880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4.424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88920" y="34290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B"/>
                </a:solidFill>
              </a:rPr>
              <a:t>alunos (uma instituição, 2008–2019)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274320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88036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variáveis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46320" y="3429000"/>
            <a:ext cx="1691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B"/>
                </a:solidFill>
              </a:rPr>
              <a:t>demográficas, socioeconômicas, acadêmicas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3891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classificação multiclasse. </a:t>
            </a:r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 central: F1 por classe (não acurácia), por causa do desbalanceamento.</a:t>
            </a:r>
            <a:endParaRPr lang="en-US" sz="1300" dirty="0"/>
          </a:p>
        </p:txBody>
      </p:sp>
      <p:pic>
        <p:nvPicPr>
          <p:cNvPr id="15" name="Image 0" descr="dist_class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554480"/>
            <a:ext cx="4572000" cy="32004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040880" y="4800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B"/>
                </a:solidFill>
              </a:rPr>
              <a:t>Distribuição desbalanceada: Enrolled é a minoria (17,9%).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JUSTIFICATIVA &amp; ARTIGO-BASE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autores originais fizeram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3566160"/>
          </a:xfrm>
          <a:prstGeom prst="roundRect">
            <a:avLst>
              <a:gd name="adj" fmla="val 1538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Artigo-base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9834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Villar &amp; de Andrade (2024).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“Supervised ML algorithms for predicting student dropout and academic success.” Discover AI, 4(1).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Reutiliza o dataset de Martins et al. (2021) / Realinho et al. (2022).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clássicos: DT, SVM, RF, Gradient Boosting, XGBoost, CatBoost, LightGBM + SMOTE + Optuna.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212080" cy="3566160"/>
          </a:xfrm>
          <a:prstGeom prst="roundRect">
            <a:avLst>
              <a:gd name="adj" fmla="val 1538"/>
            </a:avLst>
          </a:prstGeom>
          <a:solidFill>
            <a:srgbClr val="FBEEDC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737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5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Melhor resultado publicado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194560"/>
            <a:ext cx="47548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CatBoost + Optuna (com SMOTE)
</a:t>
            </a:r>
            <a:endParaRPr lang="en-US" sz="1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≈ 0,86–0,88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Nossa missão: tentar superar isso com Deep Learning — e avaliar se esse número resiste a um teste rigoroso.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REFERENCIAL TEÓRICO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Literatura que sustenta o trabalho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Domínio — evasão &amp; EDM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5303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Realinho et al. (2022) — dataset e tarefa.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Martins et al. (2021) — predição precoce no IPP.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Villar &amp; de Andrade (2024) — estudo comparativo (artigo-base).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Niyogisubizo et al. (2022) — ensemble empilhado p/ evasão.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Rastrollo-Guerrero et al. (2020) — revisão de ML em desempenho estudantil.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Técnica — DL &amp; dados tabulares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17920" y="1965960"/>
            <a:ext cx="53035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Guo &amp; Berkhahn (2016) — entity embeddings.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Grinsztajn et al. (2022) — por que árvores ainda vencem em tabular.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Shwartz-Ziv &amp; Armon (2022) — “DL is not all you need”.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Arik &amp; Pfister (2021) — TabNet.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Chawla et al. (2002) — SMOTE p/ desbalanceamento.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Descrição do dataset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881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778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UCI Machine Learning Repository #697 (CC BY 4.0); lido via URL pública no Pandas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Instituto Politécnico de Portalegre (Portugal), bases agregadas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Matrículas entre 2008 e 2019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4.424 alunos × 34 variáveis + alvo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Variáveis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Demográficas, socioeconômicas, macroeconômicas e acadêmicas (1º/2º sem.)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Dropout (32,1%) · Enrolled (17,9%) · Graduate (49,9%)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Qualidade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valores ausentes; classe Enrolled é ambígua e difícil de separar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honesto + arquitetura de DL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94960" cy="3657600"/>
          </a:xfrm>
          <a:prstGeom prst="roundRect">
            <a:avLst>
              <a:gd name="adj" fmla="val 1500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Avaliação sem vazamento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103120"/>
            <a:ext cx="4983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estratificado 70/15/15 ANTES de qualquer balanceamento.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 ajustado só no treino.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de classe / SMOTE aplicados só no treino.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clássicos (RF, XGBoost, LightGBM) reproduzidos no mesmo split.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54480"/>
            <a:ext cx="5212080" cy="3657600"/>
          </a:xfrm>
          <a:prstGeom prst="roundRect">
            <a:avLst>
              <a:gd name="adj" fmla="val 1500"/>
            </a:avLst>
          </a:prstGeom>
          <a:solidFill>
            <a:srgbClr val="E8F2F3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Modelo de Deep Learning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7960" y="210312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embeddings para 18 variáveis categóricas (Guo &amp; Berkhahn).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MLP: camadas 256→128→64 com BatchNorm, ReLU e Dropout(0,35).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Perda ponderada por classe + label smoothing; AdamW + early stopping.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Ensemble de 5 sementes (média das probabilidades).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justa no protocolo honesto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777240"/>
                <a:gridCol w="822960"/>
                <a:gridCol w="914400"/>
                <a:gridCol w="6858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Drop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Enr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F1 Grad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Macro-F1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 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0,735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Learning (Emb-MLP ×5)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F2A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comparac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600200"/>
            <a:ext cx="4297680" cy="29260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49377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Boosting (XGBoost) lidera por margem pequena; </a:t>
            </a:r>
            <a:pPr indent="0" marL="0">
              <a:buNone/>
            </a:pPr>
            <a:r>
              <a:rPr lang="en-US" sz="14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DL fica competitivo, mas não supera — coerente com a literatura de dados tabulares (Grinsztajn et al., 2022).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D3D8"/>
                </a:solidFill>
              </a:rPr>
              <a:t>ACHADO METODOLÓGICO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0,86–0,88 publicados não se replicam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15364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74320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F1 publicado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(SMOTE antes do split → vazamento)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34840" y="237744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15364C"/>
          </a:solidFill>
          <a:ln/>
        </p:spPr>
      </p:sp>
      <p:sp>
        <p:nvSpPr>
          <p:cNvPr id="8" name="Text 6"/>
          <p:cNvSpPr/>
          <p:nvPr/>
        </p:nvSpPr>
        <p:spPr>
          <a:xfrm>
            <a:off x="4434840" y="274320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E8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~0,75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617720" y="38862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Teto real macro-F1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(todos os métodos, avaliação honesta)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37744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15364C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74320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9FD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0,11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229600" y="388620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superestimação removida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FE3E6"/>
                </a:solidFill>
              </a:rPr>
              <a:t>ao corrigir o protocolo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 do projeto: um benchmark confiável. Os números originais serviam de referência para decisão real — e estavam inflados.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APLICADO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Deep Learning agrega valor: alerta precoce</a:t>
            </a:r>
            <a:endParaRPr lang="en-US" sz="2800" dirty="0"/>
          </a:p>
        </p:txBody>
      </p:sp>
      <p:pic>
        <p:nvPicPr>
          <p:cNvPr id="4" name="Image 0" descr="pr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00200"/>
            <a:ext cx="4937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0" y="17373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E8F2F3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126480" y="187452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= 0,923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de risco binário: Dropout vs. resto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943600" y="306324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 não detectar quem evade (falso negativo) é maior que o de apoiar quem não precisava.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probabilidade do DL permite ajustar o limiar para priorizar recall: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Limiar 0,50 → recall 0,72 · precisão 0,90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Limiar 0,21 → recall 0,85 · precisão 0,75 (modo intervenção)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rgbClr val="0A5C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ponto de recall = um aluno em risco identificado a tempo.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 &amp; 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2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crítica dos resultados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642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árvores vencem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dados tabulares heterogêneos, gradient boosting capta interações de forma mais eficiente em amostras moderadas — efeito documentado na literatura.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55080" y="166420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2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Gargalo: classe Enrolled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205740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intrinsecamente ambígua (ainda matriculado). Nenhum modelo passa de F1≈0,56; SMOTE não ajudou o MLP.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44728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Vieses &amp; riscos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Variáveis socioeconômicas e de gênero podem induzir decisões enviesadas; alerta deve apoiar, não rotular alunos.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3337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F4F7F8"/>
          </a:solidFill>
          <a:ln/>
          <a:effectLst>
            <a:outerShdw sx="100000" sy="100000" kx="0" ky="0" algn="bl" rotWithShape="0" blurRad="114300" dist="38100" dir="5400000">
              <a:srgbClr val="0F2A3F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55080" y="344728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384048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2A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único (1 instituição, 2008–2019); sem validação temporal/externa; resultados de uma única partição.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F2A3F"/>
                </a:solidFill>
              </a:rPr>
              <a:t>Resultado negativo é resultado: a honestidade metodológica é parte do achado.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B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5029200" cy="50292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D3D8"/>
                </a:solidFill>
              </a:rPr>
              <a:t>CONCLUSÃO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e 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0789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 ficou competitivo (macro-F1 0,72; AUC 0,89) mas não superou o boosting (0,75 / 0,91).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contribuição: expor o vazamento do baseline e fixar um teto honesto (~0,75).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✓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DL entrega valor operacional no alerta precoce (AUC 0,923, limiar ajustável).</a:t>
            </a:r>
            <a:endParaRPr lang="en-US" sz="1600" dirty="0"/>
          </a:p>
          <a:p>
            <a:pPr marL="342900" indent="-342900">
              <a:buSzPct val="100000"/>
              <a:buChar char="→"/>
            </a:pPr>
            <a:r>
              <a:rPr lang="en-US" sz="1600" dirty="0">
                <a:solidFill>
                  <a:srgbClr val="CFE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passos: CV repetida com IC, FT-Transformer/TabNet, calibração e auditoria de equidade.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5532120"/>
            <a:ext cx="10698480" cy="777240"/>
          </a:xfrm>
          <a:prstGeom prst="roundRect">
            <a:avLst>
              <a:gd name="adj" fmla="val 11765"/>
            </a:avLst>
          </a:prstGeom>
          <a:solidFill>
            <a:srgbClr val="15364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553212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D3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(notebook + dados + README): </a:t>
            </a:r>
            <a:pPr indent="0" marL="0">
              <a:buNone/>
            </a:pPr>
            <a:r>
              <a:rPr lang="en-US" sz="1500" b="1" dirty="0">
                <a:solidFill>
                  <a:srgbClr val="E8A2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github.com/[seu-usuario]/evasao-deep-learning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vs ML Clássico - Evasão Estudantil</dc:title>
  <dc:subject>PptxGenJS Presentation</dc:subject>
  <dc:creator>MCDIA - IDP</dc:creator>
  <cp:lastModifiedBy>MCDIA - IDP</cp:lastModifiedBy>
  <cp:revision>1</cp:revision>
  <dcterms:created xsi:type="dcterms:W3CDTF">2026-06-29T19:50:00Z</dcterms:created>
  <dcterms:modified xsi:type="dcterms:W3CDTF">2026-06-29T19:50:00Z</dcterms:modified>
</cp:coreProperties>
</file>